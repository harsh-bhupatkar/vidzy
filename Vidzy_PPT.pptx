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58" r:id="rId4"/>
    <p:sldId id="262" r:id="rId5"/>
    <p:sldId id="259" r:id="rId6"/>
    <p:sldId id="263" r:id="rId7"/>
    <p:sldId id="281" r:id="rId8"/>
    <p:sldId id="265" r:id="rId9"/>
    <p:sldId id="286" r:id="rId10"/>
    <p:sldId id="285" r:id="rId11"/>
    <p:sldId id="284" r:id="rId12"/>
    <p:sldId id="287" r:id="rId13"/>
    <p:sldId id="288" r:id="rId14"/>
    <p:sldId id="289" r:id="rId15"/>
    <p:sldId id="282" r:id="rId16"/>
    <p:sldId id="283" r:id="rId17"/>
    <p:sldId id="260" r:id="rId18"/>
  </p:sldIdLst>
  <p:sldSz cx="12192000" cy="6858000"/>
  <p:notesSz cx="6858000" cy="9144000"/>
  <p:embeddedFontLst>
    <p:embeddedFont>
      <p:font typeface="Proxima Nova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+A+2nPyMWBN538PGGglQVWGlo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52" autoAdjust="0"/>
  </p:normalViewPr>
  <p:slideViewPr>
    <p:cSldViewPr snapToGrid="0">
      <p:cViewPr varScale="1">
        <p:scale>
          <a:sx n="83" d="100"/>
          <a:sy n="83" d="100"/>
        </p:scale>
        <p:origin x="48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2B908B26-3D7B-827D-DF48-C936F636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443D5482-4ECA-EC5C-C33A-26D7303EC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EB90B93A-9A30-7F52-6E9C-11E5623A9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24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A6FC9F58-42A1-5423-1B2C-4187C971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761E660F-4954-5E55-E054-11B9DA8F8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686E42FF-3FF8-7843-844E-76DF383C3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47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3A9F42D6-F4D4-CEEB-2A0B-DF72B8A4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12E72FFB-B110-65FF-8B33-C2576B80A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38B02566-64C7-7482-9520-2B711C140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77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871CE92-755C-4CFB-BE0C-6C70D18B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1544E910-F1A1-609C-9584-81694117C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7E01AC78-16C3-F8C5-5A52-040F16F9A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4912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2086C61-E592-A42D-97AD-39CE5263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64E0A761-679C-0BA1-E964-F31D87CD6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4E644C88-81F8-D233-60EB-AF1280DA4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90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1F68122-0ABB-FCE4-28D0-95CA95F8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A33CACC7-DE69-5014-0039-51DA2828A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48EFFFFF-E375-6C56-3C78-90409AA8B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7986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B4718A0-F930-B52D-B7E3-C7751218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2309F757-E3A2-777C-B87A-4DA64D4F0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03374A11-CD7E-937D-7027-D0615F687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2094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B2E58C3-B510-A090-1578-0253D00C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D268993C-E0FF-BE0A-6AC1-915AA5275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31EDA544-6711-7455-F3C3-188062BFB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2908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91FAB9D-8C79-CD1B-AD9D-66754138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873C1611-5708-E0AE-76C2-6A51F8CAD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82138300-B510-6CAB-B522-5CF7B87AE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5076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219FD44-E8D9-8FE3-3E86-6EA6D2A5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7226A4CE-E741-6639-0802-2B154C2C3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4A600090-DACA-2982-3BB3-226C038DF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268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EBE62BC-5462-170D-B3AC-60B9FBE3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C20FF07B-EF6D-9EB5-1044-351DB48AB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971F9E54-8E79-9297-1B77-D30B981E1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60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0A281EFF-29C1-7944-2175-2211DC28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AF0F3973-A190-90A8-24E6-EB5DDF7B5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754AD801-9014-64E6-D4DE-07B77EA46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159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ngall.com/zoom-logo-png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ub.dev/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firebase.google.com/docs.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zegocloud.com/" TargetMode="External"/><Relationship Id="rId5" Type="http://schemas.openxmlformats.org/officeDocument/2006/relationships/hyperlink" Target="https://developers.google.com/identity/sign-in." TargetMode="External"/><Relationship Id="rId4" Type="http://schemas.openxmlformats.org/officeDocument/2006/relationships/hyperlink" Target="https://flutter.dev/docs.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059317" y="3172262"/>
            <a:ext cx="606078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Team Member 1: Harsh Bhupatkar (92400584097) 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2279498" y="2353131"/>
            <a:ext cx="7620420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/>
              <a:buNone/>
              <a:tabLst/>
              <a:defRPr/>
            </a:pP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4A2B9"/>
                </a:solidFill>
                <a:effectLst/>
                <a:uLnTx/>
                <a:uFillTx/>
                <a:latin typeface="Proxima Nova"/>
                <a:cs typeface="Arial"/>
                <a:sym typeface="Proxima Nova"/>
              </a:rPr>
              <a:t>Vidzy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366559" y="4387625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Guided By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3193927" y="5049056"/>
            <a:ext cx="561756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Internal Guide: Prof. Amit Gohel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525919" y="1450572"/>
            <a:ext cx="3127577" cy="35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4A2B9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IDP (05MC0401)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941018" y="5987421"/>
            <a:ext cx="829738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4A2B9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Faculty of Computer Application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Outline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34259" y="1129887"/>
            <a:ext cx="8591100" cy="492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 to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Vidzy</a:t>
            </a:r>
            <a:endParaRPr lang="en-US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Statement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Technology Used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System Architecture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Module Breakdown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Features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Flow Chart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Data Base Design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Project Screenshots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Future Enhancements</a:t>
            </a:r>
          </a:p>
          <a:p>
            <a:pPr marL="457200" marR="0" lvl="0" indent="-457200" algn="just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Proxima Nova"/>
                <a:sym typeface="Proxima Nova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1695909F-30B9-CB09-E418-02880DB0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85B62FB8-2CC4-44FE-00E2-A80459DE4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1. Introduction to </a:t>
            </a:r>
            <a:r>
              <a:rPr lang="en-US" sz="2400" dirty="0" err="1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Vidzy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ACB91269-A9DA-E74C-A928-C33094E410CE}"/>
              </a:ext>
            </a:extLst>
          </p:cNvPr>
          <p:cNvSpPr txBox="1"/>
          <p:nvPr/>
        </p:nvSpPr>
        <p:spPr>
          <a:xfrm>
            <a:off x="534259" y="1429509"/>
            <a:ext cx="10738669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Vidzy</a:t>
            </a:r>
            <a:r>
              <a:rPr lang="en-US" sz="1800" dirty="0"/>
              <a:t> is a </a:t>
            </a:r>
            <a:r>
              <a:rPr lang="en-US" sz="1800" b="1" dirty="0"/>
              <a:t>unified real-time communication platform</a:t>
            </a:r>
            <a:r>
              <a:rPr lang="en-US" sz="1800" dirty="0"/>
              <a:t> designed to combine </a:t>
            </a:r>
            <a:r>
              <a:rPr lang="en-US" sz="1800" b="1" dirty="0"/>
              <a:t>instant messaging</a:t>
            </a:r>
            <a:r>
              <a:rPr lang="en-US" sz="1800" dirty="0"/>
              <a:t> and </a:t>
            </a:r>
            <a:r>
              <a:rPr lang="en-US" sz="1800" b="1" dirty="0"/>
              <a:t>video communication</a:t>
            </a:r>
            <a:r>
              <a:rPr lang="en-US" sz="1800" dirty="0"/>
              <a:t> within a single application. The project focuses on providing a </a:t>
            </a:r>
            <a:r>
              <a:rPr lang="en-US" sz="1800" b="1" dirty="0"/>
              <a:t>mobile-first, scalable, and secure solution</a:t>
            </a:r>
            <a:r>
              <a:rPr lang="en-US" sz="1800" dirty="0"/>
              <a:t> for personal and professional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application integrates </a:t>
            </a:r>
            <a:r>
              <a:rPr lang="en-US" sz="1800" b="1" dirty="0"/>
              <a:t>one-to-one chat</a:t>
            </a:r>
            <a:r>
              <a:rPr lang="en-US" sz="1800" dirty="0"/>
              <a:t>, </a:t>
            </a:r>
            <a:r>
              <a:rPr lang="en-US" sz="1800" b="1" dirty="0"/>
              <a:t>direct video calling</a:t>
            </a:r>
            <a:r>
              <a:rPr lang="en-US" sz="1800" dirty="0"/>
              <a:t>, and </a:t>
            </a:r>
            <a:r>
              <a:rPr lang="en-US" sz="1800" b="1" dirty="0"/>
              <a:t>external meeting functionality</a:t>
            </a:r>
            <a:r>
              <a:rPr lang="en-US" sz="1800" dirty="0"/>
              <a:t>, allowing users to seamlessly switch between text-based and video-based interactions. </a:t>
            </a:r>
            <a:r>
              <a:rPr lang="en-US" sz="1800" dirty="0" err="1"/>
              <a:t>Vidzy</a:t>
            </a:r>
            <a:r>
              <a:rPr lang="en-US" sz="1800" dirty="0"/>
              <a:t> is inspired by modern platforms such as </a:t>
            </a:r>
            <a:r>
              <a:rPr lang="en-US" sz="1800" b="1" dirty="0"/>
              <a:t>WhatsApp, Microsoft Teams, and Google Meet</a:t>
            </a:r>
            <a:r>
              <a:rPr lang="en-US" sz="1800" dirty="0"/>
              <a:t>, but is designed with a simplified and modular architecture suitable for extensibility.</a:t>
            </a:r>
            <a:endParaRPr lang="en-US" sz="1800" dirty="0">
              <a:latin typeface="Proxima Nova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C0992-D253-8395-8BAC-65AC24F82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83226" y="4459043"/>
            <a:ext cx="15748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3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8" y="309562"/>
            <a:ext cx="311410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2. Problem Statement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26666" y="1897827"/>
            <a:ext cx="10738669" cy="392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Existing video meeting apps are often complex for simple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Users need a faster way to start or join a meeting.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Many platforms require multiple steps before joining a call.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Heavy interfaces make the experience confusing for new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Free versions of major apps limit some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Today, uses need different applications for chatting, video calling and online meetings. This makes communication slow and inconvenient.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There is need for a single application that combines chat, video calls and external meetings in simple, secure and easy-to-use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E9B102C5-0057-853C-0499-A77D84BE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535A3BCE-B787-61F2-BE67-7534797B9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3. Technology Used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95A40F-1734-A86B-7839-6A56C1179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11245"/>
              </p:ext>
            </p:extLst>
          </p:nvPr>
        </p:nvGraphicFramePr>
        <p:xfrm>
          <a:off x="604023" y="1666241"/>
          <a:ext cx="10800000" cy="300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402884986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2747327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46873651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39755026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370358210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Technology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Purpose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Version/type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Platform Compatibility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Key Benefits</a:t>
                      </a:r>
                    </a:p>
                  </a:txBody>
                  <a:tcPr marL="95690" marR="95690" marT="47845" marB="47845" anchor="ctr"/>
                </a:tc>
                <a:extLst>
                  <a:ext uri="{0D108BD9-81ED-4DB2-BD59-A6C34878D82A}">
                    <a16:rowId xmlns:a16="http://schemas.microsoft.com/office/drawing/2014/main" val="27699135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Flutter Framework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Cross-Platform Development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SDK 2.0+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Android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Fast development</a:t>
                      </a:r>
                    </a:p>
                  </a:txBody>
                  <a:tcPr marL="95690" marR="95690" marT="47845" marB="47845" anchor="ctr"/>
                </a:tc>
                <a:extLst>
                  <a:ext uri="{0D108BD9-81ED-4DB2-BD59-A6C34878D82A}">
                    <a16:rowId xmlns:a16="http://schemas.microsoft.com/office/drawing/2014/main" val="354556976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Fire Base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Real-Time Database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Cloud Database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Mobile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Scalable Storage</a:t>
                      </a:r>
                    </a:p>
                  </a:txBody>
                  <a:tcPr marL="95690" marR="95690" marT="47845" marB="47845" anchor="ctr"/>
                </a:tc>
                <a:extLst>
                  <a:ext uri="{0D108BD9-81ED-4DB2-BD59-A6C34878D82A}">
                    <a16:rowId xmlns:a16="http://schemas.microsoft.com/office/drawing/2014/main" val="428035960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Zego Cloud SDK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Open Source Video Conferencing engine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NA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Mobile</a:t>
                      </a:r>
                    </a:p>
                  </a:txBody>
                  <a:tcPr marL="95690" marR="95690" marT="47845" marB="478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Proxima Nova" panose="020B0604020202020204" charset="0"/>
                        </a:rPr>
                        <a:t>Open Source, Easy integration, Chat feature.</a:t>
                      </a:r>
                    </a:p>
                  </a:txBody>
                  <a:tcPr marL="95690" marR="95690" marT="47845" marB="47845" anchor="ctr"/>
                </a:tc>
                <a:extLst>
                  <a:ext uri="{0D108BD9-81ED-4DB2-BD59-A6C34878D82A}">
                    <a16:rowId xmlns:a16="http://schemas.microsoft.com/office/drawing/2014/main" val="149287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54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1EBC9585-1EF7-005A-B8C9-413E140B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318BA046-3291-9A7E-EF9C-BBCAA5CCD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4. System Architecture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5A12E7-059A-9F13-1C6C-E59FF034C2E1}"/>
              </a:ext>
            </a:extLst>
          </p:cNvPr>
          <p:cNvSpPr/>
          <p:nvPr/>
        </p:nvSpPr>
        <p:spPr>
          <a:xfrm>
            <a:off x="1200727" y="1634836"/>
            <a:ext cx="1311564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Mobile App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8FF688-D34D-6E8F-DF49-096E1CB175CE}"/>
              </a:ext>
            </a:extLst>
          </p:cNvPr>
          <p:cNvSpPr/>
          <p:nvPr/>
        </p:nvSpPr>
        <p:spPr>
          <a:xfrm>
            <a:off x="3172689" y="1634836"/>
            <a:ext cx="141691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Google Authentication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24D48D-D7B2-985F-E355-7180D1198EC1}"/>
              </a:ext>
            </a:extLst>
          </p:cNvPr>
          <p:cNvSpPr/>
          <p:nvPr/>
        </p:nvSpPr>
        <p:spPr>
          <a:xfrm>
            <a:off x="7221966" y="1634835"/>
            <a:ext cx="1311564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Zego Cloud SDK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50197B-5D9F-F981-C31E-6FC0C882F90D}"/>
              </a:ext>
            </a:extLst>
          </p:cNvPr>
          <p:cNvSpPr/>
          <p:nvPr/>
        </p:nvSpPr>
        <p:spPr>
          <a:xfrm>
            <a:off x="5250004" y="1634836"/>
            <a:ext cx="1311564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Firestore</a:t>
            </a:r>
          </a:p>
          <a:p>
            <a:pPr algn="ctr"/>
            <a:r>
              <a:rPr lang="en-IN" dirty="0"/>
              <a:t>(database &amp; signalling)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A398075-3D03-46B5-8252-5CBDFB8BDFDC}"/>
              </a:ext>
            </a:extLst>
          </p:cNvPr>
          <p:cNvSpPr/>
          <p:nvPr/>
        </p:nvSpPr>
        <p:spPr>
          <a:xfrm>
            <a:off x="2512291" y="1921164"/>
            <a:ext cx="660399" cy="24938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1587821-81C7-9912-256D-951303BF42A2}"/>
              </a:ext>
            </a:extLst>
          </p:cNvPr>
          <p:cNvSpPr/>
          <p:nvPr/>
        </p:nvSpPr>
        <p:spPr>
          <a:xfrm>
            <a:off x="4589606" y="1921164"/>
            <a:ext cx="660399" cy="24938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CFB86B9-E677-D8A5-788E-7A6E0C02F657}"/>
              </a:ext>
            </a:extLst>
          </p:cNvPr>
          <p:cNvSpPr/>
          <p:nvPr/>
        </p:nvSpPr>
        <p:spPr>
          <a:xfrm>
            <a:off x="6561567" y="1967345"/>
            <a:ext cx="660399" cy="24938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292FC-7312-6064-D2B0-6D28FEB4FCD3}"/>
              </a:ext>
            </a:extLst>
          </p:cNvPr>
          <p:cNvSpPr txBox="1"/>
          <p:nvPr/>
        </p:nvSpPr>
        <p:spPr>
          <a:xfrm>
            <a:off x="623453" y="3232729"/>
            <a:ext cx="10353964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Mobile Application(Flutter): </a:t>
            </a:r>
            <a:r>
              <a:rPr lang="en-US" sz="1600" dirty="0"/>
              <a:t>Provides the user interface and controls chat, calls and meeting interactions.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Google Authentication(Firebase Auth): </a:t>
            </a:r>
            <a:r>
              <a:rPr lang="en-US" sz="1600" dirty="0"/>
              <a:t>Authenticates users securely using Google Sign-In and manages user identity.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Cloud Firestore: </a:t>
            </a:r>
            <a:r>
              <a:rPr lang="en-US" sz="1600" dirty="0"/>
              <a:t>Stores real-time data for chat messages, call signaling.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Zego Cloud SDK: </a:t>
            </a:r>
            <a:r>
              <a:rPr lang="en-US" sz="1600" dirty="0"/>
              <a:t>Handles real-time audio and video streaming for calls and meetings.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Call &amp; Meeting Management Logic: </a:t>
            </a:r>
            <a:r>
              <a:rPr lang="en-US" sz="1600" dirty="0"/>
              <a:t>Controls call states, approvals and participant flow using Firestore.</a:t>
            </a:r>
            <a:endParaRPr lang="en-US" sz="16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36D459-021E-3048-01A1-A80FCD33F437}"/>
              </a:ext>
            </a:extLst>
          </p:cNvPr>
          <p:cNvSpPr/>
          <p:nvPr/>
        </p:nvSpPr>
        <p:spPr>
          <a:xfrm>
            <a:off x="9198544" y="1634835"/>
            <a:ext cx="1311564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Meeting &amp; Call Flow Control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BBD86E6-4134-CFA4-9E2B-C051066F9301}"/>
              </a:ext>
            </a:extLst>
          </p:cNvPr>
          <p:cNvSpPr/>
          <p:nvPr/>
        </p:nvSpPr>
        <p:spPr>
          <a:xfrm>
            <a:off x="8533529" y="1967345"/>
            <a:ext cx="660399" cy="24938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6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FC2B52D9-A868-6CF8-9A05-A5B8A5E4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6D3BF0D0-2E7D-5439-DF5F-12F845836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5. Module Breakdown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BD94DF74-A513-D7FF-A7C2-19A8E100F347}"/>
              </a:ext>
            </a:extLst>
          </p:cNvPr>
          <p:cNvSpPr txBox="1"/>
          <p:nvPr/>
        </p:nvSpPr>
        <p:spPr>
          <a:xfrm>
            <a:off x="384919" y="1125172"/>
            <a:ext cx="10738669" cy="5586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latin typeface="Proxima Nova" panose="020B0604020202020204" charset="0"/>
                <a:cs typeface="Calibri" panose="020F0502020204030204" pitchFamily="34" charset="0"/>
              </a:defRPr>
            </a:lvl1pPr>
          </a:lstStyle>
          <a:p>
            <a:r>
              <a:rPr lang="en-US" b="1" dirty="0"/>
              <a:t>1. Login Module</a:t>
            </a:r>
          </a:p>
          <a:p>
            <a:r>
              <a:rPr lang="en-US" dirty="0"/>
              <a:t>Handles Google Authentication, verifies identity, and creates a user session for secure and quick access.</a:t>
            </a:r>
          </a:p>
          <a:p>
            <a:r>
              <a:rPr lang="en-US" b="1" dirty="0"/>
              <a:t>2. Chat Module</a:t>
            </a:r>
          </a:p>
          <a:p>
            <a:r>
              <a:rPr lang="en-US" dirty="0"/>
              <a:t>Provides real-time one to one chat feature.</a:t>
            </a:r>
          </a:p>
          <a:p>
            <a:r>
              <a:rPr lang="en-US" b="1" dirty="0"/>
              <a:t>3. Direct Call Module</a:t>
            </a:r>
          </a:p>
          <a:p>
            <a:r>
              <a:rPr lang="en-US" dirty="0"/>
              <a:t>Enables instant video calling between users with incoming call notifications.</a:t>
            </a:r>
          </a:p>
          <a:p>
            <a:r>
              <a:rPr lang="en-US" b="1" dirty="0"/>
              <a:t>4. External Meeting Module</a:t>
            </a:r>
          </a:p>
          <a:p>
            <a:r>
              <a:rPr lang="en-US" dirty="0"/>
              <a:t>Allows users to host and join meetings using a unique meeting ID with controlled access.</a:t>
            </a:r>
          </a:p>
          <a:p>
            <a:r>
              <a:rPr lang="en-US" b="1" dirty="0"/>
              <a:t>5. Meeting Interface Module</a:t>
            </a:r>
          </a:p>
          <a:p>
            <a:r>
              <a:rPr lang="en-US" dirty="0"/>
              <a:t>Displays live video communication with basic in-meeting controls.</a:t>
            </a:r>
          </a:p>
          <a:p>
            <a:r>
              <a:rPr lang="en-US" b="1" dirty="0"/>
              <a:t>6. Backend/Database Module</a:t>
            </a:r>
            <a:endParaRPr lang="en-US" dirty="0"/>
          </a:p>
          <a:p>
            <a:r>
              <a:rPr lang="en-US" dirty="0"/>
              <a:t>Manages authentication, real-time data, signaling using Firebase.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0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089E6CF-3004-028D-D07E-DF3A3193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09301283-8B49-1161-846C-9647A510D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6. Features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15D3AA3B-A7AE-A284-21E6-B138DFC63AAF}"/>
              </a:ext>
            </a:extLst>
          </p:cNvPr>
          <p:cNvSpPr txBox="1"/>
          <p:nvPr/>
        </p:nvSpPr>
        <p:spPr>
          <a:xfrm>
            <a:off x="384919" y="1125172"/>
            <a:ext cx="10738669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latin typeface="Proxima Nova" panose="020B060402020202020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Google Authentication for secure and quick user login</a:t>
            </a:r>
          </a:p>
          <a:p>
            <a:r>
              <a:rPr lang="en-US" dirty="0"/>
              <a:t>One-to-One real time chat functionality</a:t>
            </a:r>
          </a:p>
          <a:p>
            <a:r>
              <a:rPr lang="en-US" dirty="0"/>
              <a:t>Video call initiation directly from chat</a:t>
            </a:r>
          </a:p>
          <a:p>
            <a:r>
              <a:rPr lang="en-US" dirty="0"/>
              <a:t>External meeting creation with unique meeting ID</a:t>
            </a:r>
          </a:p>
          <a:p>
            <a:r>
              <a:rPr lang="en-US" dirty="0"/>
              <a:t>Join meetings using meeting code</a:t>
            </a:r>
          </a:p>
          <a:p>
            <a:r>
              <a:rPr lang="en-US" dirty="0"/>
              <a:t>Real time audio and video communication using Zego Cloud</a:t>
            </a:r>
          </a:p>
          <a:p>
            <a:r>
              <a:rPr lang="en-US" dirty="0"/>
              <a:t>In-meeting controls: mute/unmute, camera on/off, leave meeting</a:t>
            </a:r>
          </a:p>
          <a:p>
            <a:r>
              <a:rPr lang="en-US" dirty="0"/>
              <a:t>Lightweight, clean and user-friendly mobile interface</a:t>
            </a:r>
          </a:p>
          <a:p>
            <a:r>
              <a:rPr lang="en-US" dirty="0"/>
              <a:t>Stable performance on android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8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B02EEF27-DCC6-B7FF-D6A3-B2DB93C6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6F9F2417-7698-10CD-2378-105E354B9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7. Flow Chart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8D1982-1CD8-D824-0582-793744CD8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726" y="1234702"/>
            <a:ext cx="5929747" cy="538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8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586BDBE2-D3B7-9EC2-F9BB-FE40C461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B8849F5B-691C-C8E5-A42F-A12FC1DAA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8. Database Design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DA92A-5E46-D69C-952E-93671B3E0598}"/>
              </a:ext>
            </a:extLst>
          </p:cNvPr>
          <p:cNvSpPr txBox="1"/>
          <p:nvPr/>
        </p:nvSpPr>
        <p:spPr>
          <a:xfrm>
            <a:off x="3897744" y="1246909"/>
            <a:ext cx="27524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dirty="0"/>
              <a:t>Collection</a:t>
            </a:r>
            <a:r>
              <a:rPr lang="en-IN" b="1" dirty="0"/>
              <a:t>: </a:t>
            </a:r>
            <a:r>
              <a:rPr lang="en-IN" dirty="0"/>
              <a:t>chats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chatId</a:t>
            </a:r>
            <a:r>
              <a:rPr lang="en-IN" dirty="0"/>
              <a:t>" : String, </a:t>
            </a:r>
          </a:p>
          <a:p>
            <a:pPr marL="0" indent="0">
              <a:buNone/>
            </a:pPr>
            <a:r>
              <a:rPr lang="en-IN" dirty="0"/>
              <a:t>  "participants" : List&lt;String&gt;, 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createdBy</a:t>
            </a:r>
            <a:r>
              <a:rPr lang="en-IN" dirty="0"/>
              <a:t>" : String, 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lastMessage</a:t>
            </a:r>
            <a:r>
              <a:rPr lang="en-IN" dirty="0"/>
              <a:t>" : String, 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lastMessageAt</a:t>
            </a:r>
            <a:r>
              <a:rPr lang="en-IN" dirty="0"/>
              <a:t>" : Timestamp, 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createdAt</a:t>
            </a:r>
            <a:r>
              <a:rPr lang="en-IN" dirty="0"/>
              <a:t>" : Timestamp </a:t>
            </a:r>
          </a:p>
          <a:p>
            <a:pPr marL="0" indent="0">
              <a:buNone/>
            </a:pPr>
            <a:r>
              <a:rPr lang="en-IN" dirty="0"/>
              <a:t>} 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472F5-F0C4-CAD1-14A7-10F599E900A1}"/>
              </a:ext>
            </a:extLst>
          </p:cNvPr>
          <p:cNvSpPr txBox="1"/>
          <p:nvPr/>
        </p:nvSpPr>
        <p:spPr>
          <a:xfrm>
            <a:off x="614217" y="1343890"/>
            <a:ext cx="29694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Collection</a:t>
            </a:r>
            <a:r>
              <a:rPr lang="en-IN" b="1" dirty="0"/>
              <a:t>: </a:t>
            </a:r>
            <a:r>
              <a:rPr lang="en-IN" dirty="0"/>
              <a:t>users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“id” : int, </a:t>
            </a:r>
          </a:p>
          <a:p>
            <a:r>
              <a:rPr lang="en-IN" dirty="0"/>
              <a:t>  “</a:t>
            </a:r>
            <a:r>
              <a:rPr lang="en-IN" dirty="0" err="1"/>
              <a:t>profilephoto</a:t>
            </a:r>
            <a:r>
              <a:rPr lang="en-IN" dirty="0"/>
              <a:t>” : String, </a:t>
            </a:r>
          </a:p>
          <a:p>
            <a:r>
              <a:rPr lang="en-IN" dirty="0"/>
              <a:t>  “username” : String </a:t>
            </a:r>
          </a:p>
          <a:p>
            <a:r>
              <a:rPr lang="en-IN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7D52C-27DE-87B8-2714-256083A32121}"/>
              </a:ext>
            </a:extLst>
          </p:cNvPr>
          <p:cNvSpPr txBox="1"/>
          <p:nvPr/>
        </p:nvSpPr>
        <p:spPr>
          <a:xfrm>
            <a:off x="6867235" y="1246909"/>
            <a:ext cx="27524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Collection</a:t>
            </a:r>
            <a:r>
              <a:rPr lang="en-IN" b="1" dirty="0"/>
              <a:t>: </a:t>
            </a:r>
            <a:r>
              <a:rPr lang="en-IN" dirty="0"/>
              <a:t>chats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"</a:t>
            </a:r>
            <a:r>
              <a:rPr lang="en-IN" dirty="0" err="1"/>
              <a:t>chatId</a:t>
            </a:r>
            <a:r>
              <a:rPr lang="en-IN" dirty="0"/>
              <a:t>" : String, </a:t>
            </a:r>
          </a:p>
          <a:p>
            <a:r>
              <a:rPr lang="en-IN" dirty="0"/>
              <a:t>  "participants" : List&lt;String&gt;, </a:t>
            </a:r>
          </a:p>
          <a:p>
            <a:r>
              <a:rPr lang="en-IN" dirty="0"/>
              <a:t>  "</a:t>
            </a:r>
            <a:r>
              <a:rPr lang="en-IN" dirty="0" err="1"/>
              <a:t>createdBy</a:t>
            </a:r>
            <a:r>
              <a:rPr lang="en-IN" dirty="0"/>
              <a:t>" : String, </a:t>
            </a:r>
          </a:p>
          <a:p>
            <a:r>
              <a:rPr lang="en-IN" dirty="0"/>
              <a:t>  "</a:t>
            </a:r>
            <a:r>
              <a:rPr lang="en-IN" dirty="0" err="1"/>
              <a:t>lastMessage</a:t>
            </a:r>
            <a:r>
              <a:rPr lang="en-IN" dirty="0"/>
              <a:t>" : String, </a:t>
            </a:r>
          </a:p>
          <a:p>
            <a:r>
              <a:rPr lang="en-IN" dirty="0"/>
              <a:t>  "</a:t>
            </a:r>
            <a:r>
              <a:rPr lang="en-IN" dirty="0" err="1"/>
              <a:t>lastMessageAt</a:t>
            </a:r>
            <a:r>
              <a:rPr lang="en-IN" dirty="0"/>
              <a:t>" : Timestamp, </a:t>
            </a:r>
          </a:p>
          <a:p>
            <a:r>
              <a:rPr lang="en-IN" dirty="0"/>
              <a:t>  "</a:t>
            </a:r>
            <a:r>
              <a:rPr lang="en-IN" dirty="0" err="1"/>
              <a:t>createdAt</a:t>
            </a:r>
            <a:r>
              <a:rPr lang="en-IN" dirty="0"/>
              <a:t>" : Timestamp </a:t>
            </a:r>
          </a:p>
          <a:p>
            <a:r>
              <a:rPr lang="en-IN" dirty="0"/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66BCF-622D-FC0C-BAD6-6513BA4DFDE1}"/>
              </a:ext>
            </a:extLst>
          </p:cNvPr>
          <p:cNvSpPr txBox="1"/>
          <p:nvPr/>
        </p:nvSpPr>
        <p:spPr>
          <a:xfrm>
            <a:off x="554181" y="3381057"/>
            <a:ext cx="32373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Sub-Collection: chats/{</a:t>
            </a:r>
            <a:r>
              <a:rPr lang="en-IN" dirty="0" err="1"/>
              <a:t>chatId</a:t>
            </a:r>
            <a:r>
              <a:rPr lang="en-IN" dirty="0"/>
              <a:t>}/messages </a:t>
            </a:r>
          </a:p>
          <a:p>
            <a:endParaRPr lang="en-IN" dirty="0"/>
          </a:p>
          <a:p>
            <a:r>
              <a:rPr lang="en-IN" dirty="0"/>
              <a:t>{ </a:t>
            </a:r>
          </a:p>
          <a:p>
            <a:r>
              <a:rPr lang="en-IN" dirty="0"/>
              <a:t>  "</a:t>
            </a:r>
            <a:r>
              <a:rPr lang="en-IN" dirty="0" err="1"/>
              <a:t>messageId</a:t>
            </a:r>
            <a:r>
              <a:rPr lang="en-IN" dirty="0"/>
              <a:t>" : String, </a:t>
            </a:r>
          </a:p>
          <a:p>
            <a:r>
              <a:rPr lang="en-IN" dirty="0"/>
              <a:t>  "</a:t>
            </a:r>
            <a:r>
              <a:rPr lang="en-IN" dirty="0" err="1"/>
              <a:t>senderId</a:t>
            </a:r>
            <a:r>
              <a:rPr lang="en-IN" dirty="0"/>
              <a:t>" : String, </a:t>
            </a:r>
          </a:p>
          <a:p>
            <a:r>
              <a:rPr lang="en-IN" dirty="0"/>
              <a:t>  "text" : String, </a:t>
            </a:r>
          </a:p>
          <a:p>
            <a:r>
              <a:rPr lang="en-IN" dirty="0"/>
              <a:t>  "</a:t>
            </a:r>
            <a:r>
              <a:rPr lang="en-IN" dirty="0" err="1"/>
              <a:t>createdAt</a:t>
            </a:r>
            <a:r>
              <a:rPr lang="en-IN" dirty="0"/>
              <a:t>" : Timestamp </a:t>
            </a:r>
          </a:p>
          <a:p>
            <a:r>
              <a:rPr lang="en-IN" dirty="0"/>
              <a:t>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1F58D-2E54-176F-90FC-A25BFF822D76}"/>
              </a:ext>
            </a:extLst>
          </p:cNvPr>
          <p:cNvSpPr txBox="1"/>
          <p:nvPr/>
        </p:nvSpPr>
        <p:spPr>
          <a:xfrm>
            <a:off x="3791526" y="3493678"/>
            <a:ext cx="58281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Collection: calls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"</a:t>
            </a:r>
            <a:r>
              <a:rPr lang="en-IN" dirty="0" err="1"/>
              <a:t>callId</a:t>
            </a:r>
            <a:r>
              <a:rPr lang="en-IN" dirty="0"/>
              <a:t>" : String,</a:t>
            </a:r>
          </a:p>
          <a:p>
            <a:r>
              <a:rPr lang="en-IN" dirty="0"/>
              <a:t>  "</a:t>
            </a:r>
            <a:r>
              <a:rPr lang="en-IN" dirty="0" err="1"/>
              <a:t>chatId</a:t>
            </a:r>
            <a:r>
              <a:rPr lang="en-IN" dirty="0"/>
              <a:t>" : String,</a:t>
            </a:r>
          </a:p>
          <a:p>
            <a:r>
              <a:rPr lang="en-IN" dirty="0"/>
              <a:t>  "</a:t>
            </a:r>
            <a:r>
              <a:rPr lang="en-IN" dirty="0" err="1"/>
              <a:t>initiatorId</a:t>
            </a:r>
            <a:r>
              <a:rPr lang="en-IN" dirty="0"/>
              <a:t>" : String,</a:t>
            </a:r>
          </a:p>
          <a:p>
            <a:r>
              <a:rPr lang="en-IN" dirty="0"/>
              <a:t>  "</a:t>
            </a:r>
            <a:r>
              <a:rPr lang="en-IN" dirty="0" err="1"/>
              <a:t>receiverIds</a:t>
            </a:r>
            <a:r>
              <a:rPr lang="en-IN" dirty="0"/>
              <a:t>" : List&lt;String&gt;,</a:t>
            </a:r>
          </a:p>
          <a:p>
            <a:r>
              <a:rPr lang="en-IN" dirty="0"/>
              <a:t>  "status" : String, // ringing |   accepted | rejected | ended</a:t>
            </a:r>
          </a:p>
          <a:p>
            <a:r>
              <a:rPr lang="en-IN" dirty="0"/>
              <a:t>  "</a:t>
            </a:r>
            <a:r>
              <a:rPr lang="en-IN" dirty="0" err="1"/>
              <a:t>createdAt</a:t>
            </a:r>
            <a:r>
              <a:rPr lang="en-IN" dirty="0"/>
              <a:t>" : Timestamp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670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EF707044-C99C-F2C8-BF61-BD005152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A54B49E3-B5E5-59F5-E771-71D42ED64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9. Project Screenshot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22F8B-096D-FBCE-D936-CC042872920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88" b="18743"/>
          <a:stretch>
            <a:fillRect/>
          </a:stretch>
        </p:blipFill>
        <p:spPr bwMode="auto">
          <a:xfrm>
            <a:off x="534259" y="1246909"/>
            <a:ext cx="3303905" cy="39162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2E088-9421-9C0F-568B-BF5A07D11D82}"/>
              </a:ext>
            </a:extLst>
          </p:cNvPr>
          <p:cNvSpPr txBox="1"/>
          <p:nvPr/>
        </p:nvSpPr>
        <p:spPr>
          <a:xfrm>
            <a:off x="600364" y="5430982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Login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567594-5D68-2FC0-542E-AD6B165E08B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2" b="39272"/>
          <a:stretch>
            <a:fillRect/>
          </a:stretch>
        </p:blipFill>
        <p:spPr bwMode="auto">
          <a:xfrm>
            <a:off x="5550216" y="1216070"/>
            <a:ext cx="3529965" cy="4368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B19B1F-F98B-D3ED-8DA9-8ECA5702F2B3}"/>
              </a:ext>
            </a:extLst>
          </p:cNvPr>
          <p:cNvSpPr txBox="1"/>
          <p:nvPr/>
        </p:nvSpPr>
        <p:spPr>
          <a:xfrm>
            <a:off x="5417128" y="5801445"/>
            <a:ext cx="17972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Meet &amp; Chat Screen</a:t>
            </a:r>
          </a:p>
        </p:txBody>
      </p:sp>
    </p:spTree>
    <p:extLst>
      <p:ext uri="{BB962C8B-B14F-4D97-AF65-F5344CB8AC3E}">
        <p14:creationId xmlns:p14="http://schemas.microsoft.com/office/powerpoint/2010/main" val="594221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AA9B30C-13C3-5D75-E2DD-5EA07052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401E13D5-6EE5-7A40-CC99-900A552CF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9. Project Screenshot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D6064-C4F1-0BBF-70DD-E057C61C72B8}"/>
              </a:ext>
            </a:extLst>
          </p:cNvPr>
          <p:cNvSpPr txBox="1"/>
          <p:nvPr/>
        </p:nvSpPr>
        <p:spPr>
          <a:xfrm>
            <a:off x="3860098" y="1617372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Chat Screen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61D30-7B87-B8CE-78ED-E255D341A11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" t="5732" r="-1610" b="4294"/>
          <a:stretch>
            <a:fillRect/>
          </a:stretch>
        </p:blipFill>
        <p:spPr bwMode="auto">
          <a:xfrm>
            <a:off x="534259" y="1278429"/>
            <a:ext cx="3315335" cy="52700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102920-DB9B-7A61-C653-28C30C5F9C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507" y="1278429"/>
            <a:ext cx="3197860" cy="52700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96E2FC-DAB7-1F1B-EC5E-8E1717B5D912}"/>
              </a:ext>
            </a:extLst>
          </p:cNvPr>
          <p:cNvSpPr txBox="1"/>
          <p:nvPr/>
        </p:nvSpPr>
        <p:spPr>
          <a:xfrm>
            <a:off x="9637444" y="1617371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Meeting Screen</a:t>
            </a:r>
          </a:p>
        </p:txBody>
      </p:sp>
    </p:spTree>
    <p:extLst>
      <p:ext uri="{BB962C8B-B14F-4D97-AF65-F5344CB8AC3E}">
        <p14:creationId xmlns:p14="http://schemas.microsoft.com/office/powerpoint/2010/main" val="202079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487FA174-0DE3-B982-B0DB-2DDD3D37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EB95CF2B-9A7C-F6E0-C9F6-E7EACFB9C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9. Project Screenshot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D6C3F-AFF5-C35D-AFD0-AE8A7F1CC3ED}"/>
              </a:ext>
            </a:extLst>
          </p:cNvPr>
          <p:cNvSpPr txBox="1"/>
          <p:nvPr/>
        </p:nvSpPr>
        <p:spPr>
          <a:xfrm>
            <a:off x="3860098" y="1617372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Setting Screen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DA1C7-DF33-82B3-139B-16C2E16A7264}"/>
              </a:ext>
            </a:extLst>
          </p:cNvPr>
          <p:cNvSpPr txBox="1"/>
          <p:nvPr/>
        </p:nvSpPr>
        <p:spPr>
          <a:xfrm>
            <a:off x="9637444" y="1617371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Logout Screen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FA3AD8-D8A0-A3AA-0815-A0300998B05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6" b="4825"/>
          <a:stretch>
            <a:fillRect/>
          </a:stretch>
        </p:blipFill>
        <p:spPr bwMode="auto">
          <a:xfrm>
            <a:off x="407162" y="1278429"/>
            <a:ext cx="3486471" cy="49968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891B5E-174D-8FB0-9799-202BC6F56A6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6" b="4361"/>
          <a:stretch>
            <a:fillRect/>
          </a:stretch>
        </p:blipFill>
        <p:spPr bwMode="auto">
          <a:xfrm>
            <a:off x="5561846" y="1266216"/>
            <a:ext cx="3421380" cy="5125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4796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9471B4D3-16D0-A535-ABF6-1F74E65F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3118D329-AA1F-7592-0B2E-6E993F816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10. Future Enhancements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B9F0AF6C-0E7F-CBBA-06CF-B733D4D7A498}"/>
              </a:ext>
            </a:extLst>
          </p:cNvPr>
          <p:cNvSpPr txBox="1"/>
          <p:nvPr/>
        </p:nvSpPr>
        <p:spPr>
          <a:xfrm>
            <a:off x="357210" y="1328372"/>
            <a:ext cx="10738669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latin typeface="Proxima Nova" panose="020B060402020202020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b="1" dirty="0"/>
              <a:t>Smart Meeting Management:</a:t>
            </a:r>
            <a:r>
              <a:rPr lang="en-US" dirty="0"/>
              <a:t> Add meeting scheduling with calendar integration and reminders to support professional and educational use cases.</a:t>
            </a:r>
          </a:p>
          <a:p>
            <a:pPr algn="l"/>
            <a:r>
              <a:rPr lang="en-US" b="1" dirty="0"/>
              <a:t>Recording &amp; Cloud Storage:</a:t>
            </a:r>
            <a:r>
              <a:rPr lang="en-US" dirty="0"/>
              <a:t> Enable meeting recording with secure cloud storage for later playback, making </a:t>
            </a:r>
            <a:r>
              <a:rPr lang="en-US" dirty="0" err="1"/>
              <a:t>vidzy</a:t>
            </a:r>
            <a:r>
              <a:rPr lang="en-US" dirty="0"/>
              <a:t> useful for classes, training and business reviews.</a:t>
            </a:r>
          </a:p>
          <a:p>
            <a:pPr algn="l"/>
            <a:r>
              <a:rPr lang="en-US" b="1" dirty="0"/>
              <a:t>Ai-Powered Collaboration :</a:t>
            </a:r>
            <a:r>
              <a:rPr lang="en-US" dirty="0"/>
              <a:t>  Introduce live transcripts, automated notes using speech-to-text, and enhanced chat features to improve communication and accessibility.</a:t>
            </a:r>
          </a:p>
          <a:p>
            <a:pPr algn="l"/>
            <a:r>
              <a:rPr lang="en-US" b="1" dirty="0"/>
              <a:t>Platform &amp; Admin Enhancements: </a:t>
            </a:r>
            <a:r>
              <a:rPr lang="en-US" dirty="0"/>
              <a:t>Add analytics dashboards, admin controls, push notifications, and expand support to IOS and Web Platforms.</a:t>
            </a:r>
          </a:p>
          <a:p>
            <a:pPr algn="l"/>
            <a:r>
              <a:rPr lang="en-US" b="1" dirty="0"/>
              <a:t>Scalability, Security &amp; Performance: </a:t>
            </a:r>
            <a:r>
              <a:rPr lang="en-US" dirty="0"/>
              <a:t> Improve reliability by migrating to dedicated Zego Cloud servers, implementing end-to-end encryption, and optimizing support for large meetings.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989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D2490E1-2EF9-6EA3-1435-EDA90EC1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5863A888-C7E6-DC37-8791-50F0BAA442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844896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lang="en-US" sz="2400" dirty="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11. References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8496E5D2-06F6-3A37-82D8-E452FD818223}"/>
              </a:ext>
            </a:extLst>
          </p:cNvPr>
          <p:cNvSpPr txBox="1"/>
          <p:nvPr/>
        </p:nvSpPr>
        <p:spPr>
          <a:xfrm>
            <a:off x="357210" y="1328372"/>
            <a:ext cx="10738669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latin typeface="Proxima Nova" panose="020B060402020202020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dirty="0"/>
              <a:t>Flutter Documentation: </a:t>
            </a:r>
            <a:r>
              <a:rPr lang="en-IN" dirty="0">
                <a:hlinkClick r:id="rId4"/>
              </a:rPr>
              <a:t>https://flutter.dev/docs. </a:t>
            </a:r>
            <a:endParaRPr lang="en-US" dirty="0"/>
          </a:p>
          <a:p>
            <a:pPr algn="l"/>
            <a:r>
              <a:rPr lang="en-US" dirty="0"/>
              <a:t>Google sign-in using firebase: </a:t>
            </a:r>
            <a:r>
              <a:rPr lang="en-IN" dirty="0">
                <a:hlinkClick r:id="rId5"/>
              </a:rPr>
              <a:t>https://developers.google.com/identity/sign-in. </a:t>
            </a:r>
            <a:endParaRPr lang="en-US" dirty="0"/>
          </a:p>
          <a:p>
            <a:pPr algn="l"/>
            <a:r>
              <a:rPr lang="en-US" dirty="0"/>
              <a:t>Zego Cloud: </a:t>
            </a:r>
            <a:r>
              <a:rPr lang="en-US" dirty="0">
                <a:hlinkClick r:id="rId6"/>
              </a:rPr>
              <a:t>https://www.zegocloud.com</a:t>
            </a:r>
            <a:endParaRPr lang="en-US" dirty="0"/>
          </a:p>
          <a:p>
            <a:pPr algn="l"/>
            <a:r>
              <a:rPr lang="en-US" dirty="0"/>
              <a:t>Firebase: </a:t>
            </a:r>
            <a:r>
              <a:rPr lang="en-IN" dirty="0">
                <a:hlinkClick r:id="rId7"/>
              </a:rPr>
              <a:t>https://firebase.google.com/docs.</a:t>
            </a:r>
            <a:endParaRPr lang="en-US" dirty="0"/>
          </a:p>
          <a:p>
            <a:pPr algn="l"/>
            <a:r>
              <a:rPr lang="en-US" dirty="0" err="1"/>
              <a:t>Pub.dev</a:t>
            </a:r>
            <a:r>
              <a:rPr lang="en-US" dirty="0"/>
              <a:t>(For flutter packages): </a:t>
            </a:r>
            <a:r>
              <a:rPr lang="en-US" dirty="0">
                <a:hlinkClick r:id="rId8"/>
              </a:rPr>
              <a:t>https://pub.dev/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90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1017</Words>
  <Application>Microsoft Office PowerPoint</Application>
  <PresentationFormat>Widescreen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Arial</vt:lpstr>
      <vt:lpstr>Proxima Nova</vt:lpstr>
      <vt:lpstr>Office Theme</vt:lpstr>
      <vt:lpstr>PowerPoint Presentation</vt:lpstr>
      <vt:lpstr>PowerPoint Presentation</vt:lpstr>
      <vt:lpstr>Outline</vt:lpstr>
      <vt:lpstr>1. Introduction to Vidzy</vt:lpstr>
      <vt:lpstr>2. Problem Statement</vt:lpstr>
      <vt:lpstr>3. Technology Used</vt:lpstr>
      <vt:lpstr>4. System Architecture</vt:lpstr>
      <vt:lpstr>5. Module Breakdown</vt:lpstr>
      <vt:lpstr>6. Features</vt:lpstr>
      <vt:lpstr>7. Flow Chart</vt:lpstr>
      <vt:lpstr>8. Database Design</vt:lpstr>
      <vt:lpstr>9. Project Screenshot</vt:lpstr>
      <vt:lpstr>9. Project Screenshot</vt:lpstr>
      <vt:lpstr>9. Project Screenshot</vt:lpstr>
      <vt:lpstr>10. Future Enhancements</vt:lpstr>
      <vt:lpstr>11.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harsh bhupatkar</cp:lastModifiedBy>
  <cp:revision>95</cp:revision>
  <dcterms:created xsi:type="dcterms:W3CDTF">2023-12-05T07:58:57Z</dcterms:created>
  <dcterms:modified xsi:type="dcterms:W3CDTF">2026-01-28T17:07:25Z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</Properties>
</file>